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231379b51d4051" /><Relationship Type="http://schemas.openxmlformats.org/officeDocument/2006/relationships/extended-properties" Target="/docProps/app.xml" Id="Rf0df035ad5e94b70" /><Relationship Type="http://schemas.openxmlformats.org/officeDocument/2006/relationships/officeDocument" Target="/ppt/presentation.xml" Id="R579fff00e409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3ac01cd94434c"/>
  </p:sldMasterIdLst>
  <p:notesMasterIdLst>
    <p:notesMasterId xmlns:r="http://schemas.openxmlformats.org/officeDocument/2006/relationships" r:id="R48977bf721684479"/>
  </p:notesMasterIdLst>
  <p:sldIdLst>
    <p:sldId xmlns:r="http://schemas.openxmlformats.org/officeDocument/2006/relationships" id="256" r:id="R9d518716d560463c"/>
    <p:sldId xmlns:r="http://schemas.openxmlformats.org/officeDocument/2006/relationships" id="257" r:id="R8219b1c815c44537"/>
    <p:sldId xmlns:r="http://schemas.openxmlformats.org/officeDocument/2006/relationships" id="258" r:id="R87d76ce654384e77"/>
    <p:sldId xmlns:r="http://schemas.openxmlformats.org/officeDocument/2006/relationships" id="259" r:id="R8f8f9d7499654940"/>
    <p:sldId xmlns:r="http://schemas.openxmlformats.org/officeDocument/2006/relationships" id="260" r:id="Rd8762ab401fa4cac"/>
    <p:sldId xmlns:r="http://schemas.openxmlformats.org/officeDocument/2006/relationships" id="261" r:id="Re7ad8328a610406b"/>
    <p:sldId xmlns:r="http://schemas.openxmlformats.org/officeDocument/2006/relationships" id="262" r:id="Rc967f1794a354944"/>
    <p:sldId xmlns:r="http://schemas.openxmlformats.org/officeDocument/2006/relationships" id="263" r:id="R33f9a53487cf4ea3"/>
    <p:sldId xmlns:r="http://schemas.openxmlformats.org/officeDocument/2006/relationships" id="264" r:id="R80b4cf8d3da9438d"/>
    <p:sldId xmlns:r="http://schemas.openxmlformats.org/officeDocument/2006/relationships" id="265" r:id="R3cd695e7feb644b9"/>
    <p:sldId xmlns:r="http://schemas.openxmlformats.org/officeDocument/2006/relationships" id="266" r:id="R13fad024f719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971599cc4f4488" /><Relationship Type="http://schemas.openxmlformats.org/officeDocument/2006/relationships/slideMaster" Target="/ppt/slideMasters/slideMaster1.xml" Id="Rc303ac01cd94434c" /><Relationship Type="http://schemas.openxmlformats.org/officeDocument/2006/relationships/notesMaster" Target="/ppt/notesMasters/notesMaster1.xml" Id="R48977bf721684479" /><Relationship Type="http://schemas.openxmlformats.org/officeDocument/2006/relationships/presProps" Target="/ppt/presProps.xml" Id="R8db248068106494e" /><Relationship Type="http://schemas.openxmlformats.org/officeDocument/2006/relationships/tableStyles" Target="/ppt/tableStyles.xml" Id="R5034a3cd1e56477e" /><Relationship Type="http://schemas.openxmlformats.org/officeDocument/2006/relationships/slide" Target="/ppt/slides/slide1.xml" Id="R9d518716d560463c" /><Relationship Type="http://schemas.openxmlformats.org/officeDocument/2006/relationships/slide" Target="/ppt/slides/slide2.xml" Id="R8219b1c815c44537" /><Relationship Type="http://schemas.openxmlformats.org/officeDocument/2006/relationships/slide" Target="/ppt/slides/slide3.xml" Id="R87d76ce654384e77" /><Relationship Type="http://schemas.openxmlformats.org/officeDocument/2006/relationships/slide" Target="/ppt/slides/slide4.xml" Id="R8f8f9d7499654940" /><Relationship Type="http://schemas.openxmlformats.org/officeDocument/2006/relationships/slide" Target="/ppt/slides/slide5.xml" Id="Rd8762ab401fa4cac" /><Relationship Type="http://schemas.openxmlformats.org/officeDocument/2006/relationships/slide" Target="/ppt/slides/slide6.xml" Id="Re7ad8328a610406b" /><Relationship Type="http://schemas.openxmlformats.org/officeDocument/2006/relationships/slide" Target="/ppt/slides/slide7.xml" Id="Rc967f1794a354944" /><Relationship Type="http://schemas.openxmlformats.org/officeDocument/2006/relationships/slide" Target="/ppt/slides/slide8.xml" Id="R33f9a53487cf4ea3" /><Relationship Type="http://schemas.openxmlformats.org/officeDocument/2006/relationships/slide" Target="/ppt/slides/slide9.xml" Id="R80b4cf8d3da9438d" /><Relationship Type="http://schemas.openxmlformats.org/officeDocument/2006/relationships/slide" Target="/ppt/slides/slide10.xml" Id="R3cd695e7feb644b9" /><Relationship Type="http://schemas.openxmlformats.org/officeDocument/2006/relationships/slide" Target="/ppt/slides/slide11.xml" Id="R13fad024f719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6f0b8a2e3342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ab793721a5409c" /><Relationship Type="http://schemas.openxmlformats.org/officeDocument/2006/relationships/notesMaster" Target="/ppt/notesMasters/notesMaster1.xml" Id="Rd627629338b7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8e5d76c7d148cf" /><Relationship Type="http://schemas.openxmlformats.org/officeDocument/2006/relationships/notesMaster" Target="/ppt/notesMasters/notesMaster1.xml" Id="Re6bde7bc430e4a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8dbc5bfdb439a" /><Relationship Type="http://schemas.openxmlformats.org/officeDocument/2006/relationships/notesMaster" Target="/ppt/notesMasters/notesMaster1.xml" Id="Ra0dc2d6f3c3144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d700294f08454d" /><Relationship Type="http://schemas.openxmlformats.org/officeDocument/2006/relationships/notesMaster" Target="/ppt/notesMasters/notesMaster1.xml" Id="Ra78a7ad4be934a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ed26bdfd2b4a2a" /><Relationship Type="http://schemas.openxmlformats.org/officeDocument/2006/relationships/notesMaster" Target="/ppt/notesMasters/notesMaster1.xml" Id="R1d6a40cbf8a6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32ee1b4aae4cf4" /><Relationship Type="http://schemas.openxmlformats.org/officeDocument/2006/relationships/notesMaster" Target="/ppt/notesMasters/notesMaster1.xml" Id="Rcbce7a3e88e749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5179dbe3240ff" /><Relationship Type="http://schemas.openxmlformats.org/officeDocument/2006/relationships/notesMaster" Target="/ppt/notesMasters/notesMaster1.xml" Id="Rf8946b0b2a614d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1c3498dee647ad" /><Relationship Type="http://schemas.openxmlformats.org/officeDocument/2006/relationships/notesMaster" Target="/ppt/notesMasters/notesMaster1.xml" Id="Rde1c7dee382e4d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1a5c3d219a48e2" /><Relationship Type="http://schemas.openxmlformats.org/officeDocument/2006/relationships/notesMaster" Target="/ppt/notesMasters/notesMaster1.xml" Id="Rf338ced53cbd45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479ae3cf3e49da" /><Relationship Type="http://schemas.openxmlformats.org/officeDocument/2006/relationships/notesMaster" Target="/ppt/notesMasters/notesMaster1.xml" Id="R8d97c40ca74a47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177029553d4ef7" /><Relationship Type="http://schemas.openxmlformats.org/officeDocument/2006/relationships/notesMaster" Target="/ppt/notesMasters/notesMaster1.xml" Id="R127f132c5d9b4d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</a:t>
            </a:r>
          </a:p>
          <a:p xmlns:a="http://schemas.openxmlformats.org/drawingml/2006/main">
            <a:r>
              <a:t>- https://www.nli.org.il/he/newspapers/titles?lang=%D7%A2%D7%A8%D7%91%D7%99%D7%AA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https://github.com/pedahzur/from-question-to-evidence/blob/codex/mirrored-newspaper-evidence/content/10-mirrored-newspaper-evidence.qmd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https://github.com/pedahzur/from-question-to-evidence/tree/codex/mirrored-newspaper-evidence/examples/mirrored-newspaper-evidence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https://github.com/pedahzur/from-question-to-evidence/blob/codex/mirrored-newspaper-evidence/content/10-mirrored-newspaper-evidence.qmd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https://github.com/pedahzur/from-question-to-evidence/blob/codex/mirrored-newspaper-evidence/examples/mirrored-newspaper-evidence/search-log.csv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https://github.com/pedahzur/from-question-to-evidence/blob/codex/mirrored-newspaper-evidence/examples/mirrored-newspaper-evidence/source-manifest.csv</a:t>
            </a:r>
          </a:p>
          <a:p xmlns:a="http://schemas.openxmlformats.org/drawingml/2006/main">
            <a:r>
              <a:t>- https://impresso-project.ch/datalab/notebooks/newsagency-processing-with-impresso-hf/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https://www.nli.org.il/he/newspapers/?a=d&amp;d=falastin19380712-01.2.5</a:t>
            </a:r>
          </a:p>
          <a:p xmlns:a="http://schemas.openxmlformats.org/drawingml/2006/main">
            <a:r>
              <a:t>- https://www.nli.org.il/he/newspapers/?a=d&amp;d=falastin19380712-01.2.19</a:t>
            </a:r>
          </a:p>
          <a:p xmlns:a="http://schemas.openxmlformats.org/drawingml/2006/main">
            <a:r>
              <a:t>- https://www.nli.org.il/he/newspapers/?a=d&amp;d=difaa19380712-01.2.102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https://doi.org/10.1140/epjds/s13688-025-00548-8</a:t>
            </a:r>
          </a:p>
          <a:p xmlns:a="http://schemas.openxmlformats.org/drawingml/2006/main">
            <a:r>
              <a:t>- https://doi.org/10.1177/00491241251339188</a:t>
            </a:r>
          </a:p>
          <a:p xmlns:a="http://schemas.openxmlformats.org/drawingml/2006/main">
            <a:r>
              <a:t>- https://doi.org/10.1177/0049124117729703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https://collectionsasdata.github.io/statement/</a:t>
            </a:r>
          </a:p>
          <a:p xmlns:a="http://schemas.openxmlformats.org/drawingml/2006/main">
            <a:r>
              <a:t>- https://doi.org/10.1017/chr.2025.10007</a:t>
            </a:r>
          </a:p>
          <a:p xmlns:a="http://schemas.openxmlformats.org/drawingml/2006/main">
            <a:r>
              <a:t>- https://impresso-project.ch/project/objectives/</a:t>
            </a:r>
          </a:p>
          <a:p xmlns:a="http://schemas.openxmlformats.org/drawingml/2006/main">
            <a:r>
              <a:t>- https://doi.org/10.1177/0049124117729703</a:t>
            </a:r>
          </a:p>
          <a:p xmlns:a="http://schemas.openxmlformats.org/drawingml/2006/main">
            <a:r>
              <a:t>- https://doi.org/10.1140/epjds/s13688-025-00548-8</a:t>
            </a:r>
          </a:p>
          <a:p xmlns:a="http://schemas.openxmlformats.org/drawingml/2006/main">
            <a:r>
              <a:t>- https://doi.org/10.1038/s42256-020-00287-7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https://github.com/pedahzur/from-question-to-evidence/blob/codex/mirrored-newspaper-evidence/editorial/related-methods-review-2026.md</a:t>
            </a:r>
          </a:p>
          <a:p xmlns:a="http://schemas.openxmlformats.org/drawingml/2006/main">
            <a:r>
              <a:t>- https://doi.org/10.1002/asi.24765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https://github.com/pedahzur/from-question-to-evidence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1d738275c4f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93dc07ae5040b6" /><Relationship Type="http://schemas.openxmlformats.org/officeDocument/2006/relationships/slideLayout" Target="/ppt/slideLayouts/slideLayout1.xml" Id="R340bdd4ff59b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0bdd4ff59b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e84765a1f4484" /><Relationship Type="http://schemas.openxmlformats.org/officeDocument/2006/relationships/notesSlide" Target="/ppt/notesSlides/notesSlide1.xml" Id="R697503cfa78c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7773639504b8c" /><Relationship Type="http://schemas.openxmlformats.org/officeDocument/2006/relationships/notesSlide" Target="/ppt/notesSlides/notesSlide2.xml" Id="Rad484ebcd74e41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abf5f5f82498a" /><Relationship Type="http://schemas.openxmlformats.org/officeDocument/2006/relationships/notesSlide" Target="/ppt/notesSlides/notesSlide3.xml" Id="R04d030b76d0340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6b7c166d747aa" /><Relationship Type="http://schemas.openxmlformats.org/officeDocument/2006/relationships/notesSlide" Target="/ppt/notesSlides/notesSlide4.xml" Id="Rf70f3703b3944c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1ad15954a41b4" /><Relationship Type="http://schemas.openxmlformats.org/officeDocument/2006/relationships/notesSlide" Target="/ppt/notesSlides/notesSlide5.xml" Id="R5e4d86afc43847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501b299274160" /><Relationship Type="http://schemas.openxmlformats.org/officeDocument/2006/relationships/notesSlide" Target="/ppt/notesSlides/notesSlide6.xml" Id="Rf9f6d9e2e6a749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9cfab19d9402b" /><Relationship Type="http://schemas.openxmlformats.org/officeDocument/2006/relationships/notesSlide" Target="/ppt/notesSlides/notesSlide7.xml" Id="R29939a3e35b241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bd3535a264a28" /><Relationship Type="http://schemas.openxmlformats.org/officeDocument/2006/relationships/notesSlide" Target="/ppt/notesSlides/notesSlide8.xml" Id="Rf391380f1b764b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95da645674f2e" /><Relationship Type="http://schemas.openxmlformats.org/officeDocument/2006/relationships/notesSlide" Target="/ppt/notesSlides/notesSlide9.xml" Id="R827b8f455efd4a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84b38502445e" /><Relationship Type="http://schemas.openxmlformats.org/officeDocument/2006/relationships/notesSlide" Target="/ppt/notesSlides/notesSlide10.xml" Id="R4d4feab40a3844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3dac2771f49a0" /><Relationship Type="http://schemas.openxmlformats.org/officeDocument/2006/relationships/notesSlide" Target="/ppt/notesSlides/notesSlide11.xml" Id="R09a69a2b0b2e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-bar">
            <a:extLst xmlns:a="http://schemas.openxmlformats.org/drawingml/2006/main">
              <a:ext uri="{FF2B5EF4-FFF2-40B4-BE49-F238E27FC236}">
                <a16:creationId xmlns:a16="http://schemas.microsoft.com/office/drawing/2014/main" id="{60A9CD90-2721-445D-A31A-BA2E49DD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52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E8E8343-463F-4239-B7C8-DDAE68BF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049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‫שיטת תמונת־הראי‬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F14C4A1-4193-4207-9057-AC48268F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86050"/>
            <a:ext cx="804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‫מחיפוש רב־לשוני לראיה היסטורית ניתנת לבדיקה‬</a:t>
            </a:r>
          </a:p>
        </p:txBody>
      </p:sp>
      <p:sp>
        <p:nvSpPr>
          <p:cNvPr id="4" name="pill-עיתונות עברית + ערבית">
            <a:extLst xmlns:a="http://schemas.openxmlformats.org/drawingml/2006/main">
              <a:ext uri="{FF2B5EF4-FFF2-40B4-BE49-F238E27FC236}">
                <a16:creationId xmlns:a16="http://schemas.microsoft.com/office/drawing/2014/main" id="{7EDE6652-506D-4B34-A3C1-55876D2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48125"/>
            <a:ext cx="2800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DDEFF0"/>
            </a:solidFill>
            <a:prstDash val="solid"/>
          </a:ln>
        </p:spPr>
      </p:sp>
      <p:sp>
        <p:nvSpPr>
          <p:cNvPr id="5" name="pill-label-עיתונות עברית + ערבית">
            <a:extLst xmlns:a="http://schemas.openxmlformats.org/drawingml/2006/main">
              <a:ext uri="{FF2B5EF4-FFF2-40B4-BE49-F238E27FC236}">
                <a16:creationId xmlns:a16="http://schemas.microsoft.com/office/drawing/2014/main" id="{8E0DDF45-BFAA-450C-87A6-9316C69C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‫עיתונות עברית + ערבית‬</a:t>
            </a:r>
          </a:p>
        </p:txBody>
      </p:sp>
      <p:sp>
        <p:nvSpPr>
          <p:cNvPr id="6" name="pill-בינה מלאכותית בפיקוח חוקר">
            <a:extLst xmlns:a="http://schemas.openxmlformats.org/drawingml/2006/main">
              <a:ext uri="{FF2B5EF4-FFF2-40B4-BE49-F238E27FC236}">
                <a16:creationId xmlns:a16="http://schemas.microsoft.com/office/drawing/2014/main" id="{B74E29B8-98B2-4295-81F4-15341A4D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48125"/>
            <a:ext cx="27241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F3E1D8"/>
            </a:solidFill>
            <a:prstDash val="solid"/>
          </a:ln>
        </p:spPr>
      </p:sp>
      <p:sp>
        <p:nvSpPr>
          <p:cNvPr id="7" name="pill-label-בינה מלאכותית בפיקוח חוקר">
            <a:extLst xmlns:a="http://schemas.openxmlformats.org/drawingml/2006/main">
              <a:ext uri="{FF2B5EF4-FFF2-40B4-BE49-F238E27FC236}">
                <a16:creationId xmlns:a16="http://schemas.microsoft.com/office/drawing/2014/main" id="{B51449C1-70A7-4303-9C7A-200D4CFC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148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‫בינה מלאכותית בפיקוח חוקר‬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E34608-5599-46D3-A9F7-639DA866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054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‫מקרה פיילוט: פלוגות השדה ופלגות הלילה המיוחדות, 1938‬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EBEBAE-7632-46E0-A353-BB446DB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‫עמי פדהצור · יולי 2026‬</a:t>
            </a:r>
          </a:p>
        </p:txBody>
      </p:sp>
    </p:spTree>
    <p:extLst>
      <p:ext uri="{BB962C8B-B14F-4D97-AF65-F5344CB8AC3E}">
        <p14:creationId xmlns:p14="http://schemas.microsoft.com/office/powerpoint/2010/main" val="595193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D94C51B-E95A-4C4C-94B9-5FE7B0A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72A504-814A-493A-9AC0-E5902DF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‫הבעיה: שני ארכיונים, לא שאילתה אחת‬</a:t>
            </a:r>
          </a:p>
        </p:txBody>
      </p:sp>
      <p:cxnSp>
        <p:nvCxnSpPr>
          <p:cNvPr id="20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D22338-41AC-4A8D-AD2D-0FF92A5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ebrew-archive">
            <a:extLst xmlns:a="http://schemas.openxmlformats.org/drawingml/2006/main">
              <a:ext uri="{FF2B5EF4-FFF2-40B4-BE49-F238E27FC236}">
                <a16:creationId xmlns:a16="http://schemas.microsoft.com/office/drawing/2014/main" id="{EE2616A2-7A2A-4D9E-BBC3-731930E5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arabic-archive">
            <a:extLst xmlns:a="http://schemas.openxmlformats.org/drawingml/2006/main">
              <a:ext uri="{FF2B5EF4-FFF2-40B4-BE49-F238E27FC236}">
                <a16:creationId xmlns:a16="http://schemas.microsoft.com/office/drawing/2014/main" id="{96FA1187-227F-47D6-9D3E-6FD12A7E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7" name="pill-העיתונות העברית">
            <a:extLst xmlns:a="http://schemas.openxmlformats.org/drawingml/2006/main">
              <a:ext uri="{FF2B5EF4-FFF2-40B4-BE49-F238E27FC236}">
                <a16:creationId xmlns:a16="http://schemas.microsoft.com/office/drawing/2014/main" id="{14553591-C289-4CB7-9DC2-017AE7CA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2095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DDEFF0"/>
            </a:solidFill>
            <a:prstDash val="solid"/>
          </a:ln>
        </p:spPr>
      </p:sp>
      <p:sp>
        <p:nvSpPr>
          <p:cNvPr id="8" name="pill-label-העיתונות העברית">
            <a:extLst xmlns:a="http://schemas.openxmlformats.org/drawingml/2006/main">
              <a:ext uri="{FF2B5EF4-FFF2-40B4-BE49-F238E27FC236}">
                <a16:creationId xmlns:a16="http://schemas.microsoft.com/office/drawing/2014/main" id="{E052271C-A093-4780-9514-0AEC84E2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192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‫העיתונות העברית‬</a:t>
            </a:r>
          </a:p>
        </p:txBody>
      </p:sp>
      <p:sp>
        <p:nvSpPr>
          <p:cNvPr id="9" name="pill-העיתונות הערבית">
            <a:extLst xmlns:a="http://schemas.openxmlformats.org/drawingml/2006/main">
              <a:ext uri="{FF2B5EF4-FFF2-40B4-BE49-F238E27FC236}">
                <a16:creationId xmlns:a16="http://schemas.microsoft.com/office/drawing/2014/main" id="{281B18C4-EEF6-428D-8906-BEBE805A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52600"/>
            <a:ext cx="2095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F3E1D8"/>
            </a:solidFill>
            <a:prstDash val="solid"/>
          </a:ln>
        </p:spPr>
      </p:sp>
      <p:sp>
        <p:nvSpPr>
          <p:cNvPr id="10" name="pill-label-העיתונות הערבית">
            <a:extLst xmlns:a="http://schemas.openxmlformats.org/drawingml/2006/main">
              <a:ext uri="{FF2B5EF4-FFF2-40B4-BE49-F238E27FC236}">
                <a16:creationId xmlns:a16="http://schemas.microsoft.com/office/drawing/2014/main" id="{705A946F-8580-46A8-A45D-B7EFAA8D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192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‫העיתונות הערבית‬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EA02C2-EFB3-4994-B4E6-08BBAEF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‫שמות הארגונים‬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ABBA642-3F6F-4C34-B00F-18BDA1C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‫מנהיגות · דוקטרינה · משמעת‬</a:t>
            </a:r>
          </a:p>
          <a:p xmlns:a="http://schemas.openxmlformats.org/drawingml/2006/main">
            <a:pPr algn="r">
              <a:defRPr sz="172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‫ניידות · מסורת ארגונית‬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2B5263-CA70-4284-8C91-4E9E22F0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‫מקומות ותוצאות‬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50E0F4D-0C52-4793-8468-3757DAF8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‫ירי · נפגעים · כיתור‬</a:t>
            </a:r>
          </a:p>
          <a:p xmlns:a="http://schemas.openxmlformats.org/drawingml/2006/main">
            <a:pPr algn="r">
              <a:defRPr sz="172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‫חיפושים · מעצרים · תנועה‬</a:t>
            </a:r>
          </a:p>
        </p:txBody>
      </p:sp>
      <p:cxnSp>
        <p:nvCxnSpPr>
          <p:cNvPr id="32" name="bridge"/>
          <p:cNvCxnSpPr/>
          <p:nvPr/>
        </p:nvCxnSpPr>
        <p:spPr>
          <a:xfrm xmlns:a="http://schemas.openxmlformats.org/drawingml/2006/main">
            <a:off x="5334000" y="36957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A84B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DC338C5-5EA8-4208-9D8F-1341232F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962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6A84B"/>
                </a:solidFill>
                <a:latin typeface="Arial"/>
                <a:ea typeface="Arial"/>
                <a:cs typeface="Arial"/>
              </a:rPr>
              <a:t>‫הגשר: אירוע‬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A4A494D-2C2D-4A69-8935-70826CC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43600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‫כשל בשם אינו היעדר במציאות‬</a:t>
            </a:r>
          </a:p>
        </p:txBody>
      </p:sp>
    </p:spTree>
    <p:extLst>
      <p:ext uri="{BB962C8B-B14F-4D97-AF65-F5344CB8AC3E}">
        <p14:creationId xmlns:p14="http://schemas.microsoft.com/office/powerpoint/2010/main" val="1533607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4ECC5CFB-277E-43B8-BD72-17E4D9C4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7822DD-518E-43DB-BA3B-FF7E942B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‫מה הפיילוט יצר‬</a:t>
            </a:r>
          </a:p>
        </p:txBody>
      </p:sp>
      <p:cxnSp>
        <p:nvCxnSpPr>
          <p:cNvPr id="18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223F8F-ED42-42C8-891D-698F7ED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DA9B20-058B-4D35-95C4-1C89C5A1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52550"/>
            <a:ext cx="929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‫המספרים מתארים חבילת שחזור, לא מדגם מייצג של העיתונות הערבית.‬</a:t>
            </a:r>
          </a:p>
        </p:txBody>
      </p:sp>
      <p:sp>
        <p:nvSpPr>
          <p:cNvPr id="6" name="stat-0">
            <a:extLst xmlns:a="http://schemas.openxmlformats.org/drawingml/2006/main">
              <a:ext uri="{FF2B5EF4-FFF2-40B4-BE49-F238E27FC236}">
                <a16:creationId xmlns:a16="http://schemas.microsoft.com/office/drawing/2014/main" id="{138CD8CD-E5A5-4FE5-B91D-65A10497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35052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DDEFF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119089-A737-4A1A-ADF3-E9D1DBF9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F7CB05-1B72-4C84-B8C7-7BA56B2A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‫שאילתות מתועדות‬</a:t>
            </a:r>
          </a:p>
        </p:txBody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D25BD304-1D3A-4396-881B-D6CBD341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35052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F3E1D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8EEC0D-9C5D-4B6F-9D38-2F87D5AA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EDC19A7-BBF0-48E5-8C45-A60B0E6F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624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‫רשומות עיתונות ערביות‬</a:t>
            </a:r>
          </a:p>
        </p:txBody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AB090AFD-B5C0-408B-A238-4ED1ED06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35052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E8D8"/>
          </a:solidFill>
          <a:ln xmlns:a="http://schemas.openxmlformats.org/drawingml/2006/main" w="9525">
            <a:solidFill>
              <a:srgbClr val="EEE8D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21FAB57-CCD3-469E-8D36-F5F75FB2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8A6A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8A6A2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332EDF-FDEA-4A9A-BB39-D16C4177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‫שורות הצלבת אירועים‬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62F594-7B10-4FC3-AD5D-2F5E1D9B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00700"/>
            <a:ext cx="937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‫נשמרו גם חיפושי אפס, תוצאות שגויות ומקורות תלויי־דיווח.‬</a:t>
            </a:r>
          </a:p>
        </p:txBody>
      </p:sp>
    </p:spTree>
    <p:extLst>
      <p:ext uri="{BB962C8B-B14F-4D97-AF65-F5344CB8AC3E}">
        <p14:creationId xmlns:p14="http://schemas.microsoft.com/office/powerpoint/2010/main" val="64160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FF2A58AF-B102-4D98-A0DE-3F34227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FDBF2A-7DA6-496C-85FE-18C2E8D7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‫שמונה החלטות שמותירות מסלול בדיקה‬</a:t>
            </a:r>
          </a:p>
        </p:txBody>
      </p:sp>
      <p:cxnSp>
        <p:nvCxnSpPr>
          <p:cNvPr id="31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360C1B-20BF-449B-AC1F-118234D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46BF11EB-4824-4D1A-AE9A-B8ED0DCE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E828BE-CAD2-444A-A4E3-90CF56F2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EC85D5-8AEB-4461-803D-BB9FD775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‫תחימת השאלה‬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F3DEDBE6-3D65-4B10-9387-72B70036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63C007-35B7-4EE2-84D3-8C082B90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F318CCD-1CD7-42E4-8609-39616D4E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‫אוצר מילים רב־לשוני‬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BB8F03E4-24B9-4470-B172-DB1C2272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240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99B598-B846-477B-8B1B-E484A92D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145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437CE2-2BD6-4E19-A019-F03DC6F5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‫שמירת חיפושים שנכשלו‬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1E87E80B-E91D-4095-9004-E192DD2D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6B2A87A-4675-4122-A4F5-60A6A8B8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145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D26FE5-38F5-40CA-A416-48541A0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‫מעבר מארגון לאירוע‬</a:t>
            </a:r>
          </a:p>
        </p:txBody>
      </p:sp>
      <p:sp>
        <p:nvSpPr>
          <p:cNvPr id="17" name="step-5">
            <a:extLst xmlns:a="http://schemas.openxmlformats.org/drawingml/2006/main">
              <a:ext uri="{FF2B5EF4-FFF2-40B4-BE49-F238E27FC236}">
                <a16:creationId xmlns:a16="http://schemas.microsoft.com/office/drawing/2014/main" id="{148BD0B2-BA6F-4EC3-98D1-2EA36CF1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2F6E423-BCC9-4FE6-9683-B825759C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719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2EC5ABA-912D-4BC9-AB74-C946504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62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‫אימות OCR מול הסריקה‬</a:t>
            </a:r>
          </a:p>
        </p:txBody>
      </p:sp>
      <p:sp>
        <p:nvSpPr>
          <p:cNvPr id="20" name="step-6">
            <a:extLst xmlns:a="http://schemas.openxmlformats.org/drawingml/2006/main">
              <a:ext uri="{FF2B5EF4-FFF2-40B4-BE49-F238E27FC236}">
                <a16:creationId xmlns:a16="http://schemas.microsoft.com/office/drawing/2014/main" id="{C8284AF2-DF9C-49A0-9A6F-F4D29C29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813E19D-D3F1-4F67-ACBA-E36A0DF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E0148C0-0665-43E3-9831-3B6F63A1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‫סיווג מקור המידע‬</a:t>
            </a:r>
          </a:p>
        </p:txBody>
      </p:sp>
      <p:sp>
        <p:nvSpPr>
          <p:cNvPr id="23" name="step-7">
            <a:extLst xmlns:a="http://schemas.openxmlformats.org/drawingml/2006/main">
              <a:ext uri="{FF2B5EF4-FFF2-40B4-BE49-F238E27FC236}">
                <a16:creationId xmlns:a16="http://schemas.microsoft.com/office/drawing/2014/main" id="{9019B3F6-148B-4181-AE86-E95C68E9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814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B8130C3-392F-408F-AB5E-B9B61A09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719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10D436F-9FAB-4F5A-9F58-C49526F4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‫הצלבת אירועים‬</a:t>
            </a:r>
          </a:p>
        </p:txBody>
      </p:sp>
      <p:sp>
        <p:nvSpPr>
          <p:cNvPr id="26" name="step-8">
            <a:extLst xmlns:a="http://schemas.openxmlformats.org/drawingml/2006/main">
              <a:ext uri="{FF2B5EF4-FFF2-40B4-BE49-F238E27FC236}">
                <a16:creationId xmlns:a16="http://schemas.microsoft.com/office/drawing/2014/main" id="{52D9B467-AC73-444C-BE9C-75397380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25908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6896EF5-BE98-4F44-906C-6503DF42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719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ADC1AD6-0C9F-4180-AFDE-F9FBD9B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‫כלל עצירה ופתיחה מחדש‬</a:t>
            </a:r>
          </a:p>
        </p:txBody>
      </p:sp>
    </p:spTree>
    <p:extLst>
      <p:ext uri="{BB962C8B-B14F-4D97-AF65-F5344CB8AC3E}">
        <p14:creationId xmlns:p14="http://schemas.microsoft.com/office/powerpoint/2010/main" val="758409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942DEA5B-4647-4333-9C0A-4E94BF7D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12EBEC-FAF4-475C-BD5D-9C121C03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‫נקודת המפנה: מן היחידה אל הזירה‬</a:t>
            </a:r>
          </a:p>
        </p:txBody>
      </p:sp>
      <p:cxnSp>
        <p:nvCxnSpPr>
          <p:cNvPr id="25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890CDD-DED3-4C64-BED3-868308BA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7" name="search-line"/>
          <p:cNvCxnSpPr/>
          <p:nvPr/>
        </p:nvCxnSpPr>
        <p:spPr>
          <a:xfrm xmlns:a="http://schemas.openxmlformats.org/drawingml/2006/main">
            <a:off x="1866900" y="3286125"/>
            <a:ext cx="845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A84B"/>
            </a:solidFill>
            <a:prstDash val="solid"/>
          </a:ln>
        </p:spPr>
      </p:cxnSp>
      <p:sp>
        <p:nvSpPr>
          <p:cNvPr id="6" name="pivot-0">
            <a:extLst xmlns:a="http://schemas.openxmlformats.org/drawingml/2006/main">
              <a:ext uri="{FF2B5EF4-FFF2-40B4-BE49-F238E27FC236}">
                <a16:creationId xmlns:a16="http://schemas.microsoft.com/office/drawing/2014/main" id="{1BECA70A-CE9C-4BDF-AC36-990B6E7F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209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9A49AA-6BDD-40FF-A2B7-51DD066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908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A4B517-26C7-4D79-913A-606AFF7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‫שמות יחידות‬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EFF052-E812-4E38-A389-935EB8AB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‫0 תוצאות שימושיות‬</a:t>
            </a:r>
          </a:p>
        </p:txBody>
      </p:sp>
      <p:sp>
        <p:nvSpPr>
          <p:cNvPr id="10" name="pivot-1">
            <a:extLst xmlns:a="http://schemas.openxmlformats.org/drawingml/2006/main">
              <a:ext uri="{FF2B5EF4-FFF2-40B4-BE49-F238E27FC236}">
                <a16:creationId xmlns:a16="http://schemas.microsoft.com/office/drawing/2014/main" id="{1D404726-5B93-4A67-871F-A15FFA8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209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E8D8"/>
          </a:solidFill>
          <a:ln xmlns:a="http://schemas.openxmlformats.org/drawingml/2006/main" w="9525">
            <a:solidFill>
              <a:srgbClr val="8A6A2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6C81F2-47A5-41A0-A222-4C6318BD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8A6A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6A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D8C189-D36A-49B7-8F23-5F30C828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‫שמות אנשים‬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D3C37F1-64E2-4E5F-9300-AB55276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‫ממצא מכריע אחד‬</a:t>
            </a:r>
          </a:p>
        </p:txBody>
      </p:sp>
      <p:sp>
        <p:nvSpPr>
          <p:cNvPr id="14" name="pivot-2">
            <a:extLst xmlns:a="http://schemas.openxmlformats.org/drawingml/2006/main">
              <a:ext uri="{FF2B5EF4-FFF2-40B4-BE49-F238E27FC236}">
                <a16:creationId xmlns:a16="http://schemas.microsoft.com/office/drawing/2014/main" id="{FE03B520-C4CF-45E0-BB05-A8B22A0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2209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CDB7C37-E437-4346-94B5-B5279080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4E79DC-3E41-4BE4-B801-113806A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‫מקומות ותשתית‬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6E9053F-C9A7-465B-8C71-AF93E30D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‫221 תוצאות לצינור‬</a:t>
            </a:r>
          </a:p>
        </p:txBody>
      </p:sp>
      <p:sp>
        <p:nvSpPr>
          <p:cNvPr id="18" name="pivot-3">
            <a:extLst xmlns:a="http://schemas.openxmlformats.org/drawingml/2006/main">
              <a:ext uri="{FF2B5EF4-FFF2-40B4-BE49-F238E27FC236}">
                <a16:creationId xmlns:a16="http://schemas.microsoft.com/office/drawing/2014/main" id="{DAC92A16-7A48-47D1-B027-845A6E9A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209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CAFF32F-006D-416B-8259-27203577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908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30FB128-8B68-44F9-975A-D59F2526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‫פרטי פעולה‬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B024537-BE02-4251-A3D7-659B29EA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‫אירועים בני־השוואה‬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95C5359-12E1-4DB1-AF09-15B480BE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‫חיפוש שנכשל משנה את אסטרטגיית האיסוף. הוא אינו נמחק מן התיעוד.‬</a:t>
            </a:r>
          </a:p>
        </p:txBody>
      </p:sp>
    </p:spTree>
    <p:extLst>
      <p:ext uri="{BB962C8B-B14F-4D97-AF65-F5344CB8AC3E}">
        <p14:creationId xmlns:p14="http://schemas.microsoft.com/office/powerpoint/2010/main" val="696378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F4D403CE-4D09-4D42-B91A-905263B0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2361E7-17E1-4D3F-86C8-CC2C9D5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‫אין ״קול ערבי״ אחד: מסווגים את שרשרת המידע‬</a:t>
            </a:r>
          </a:p>
        </p:txBody>
      </p:sp>
      <p:cxnSp>
        <p:nvCxnSpPr>
          <p:cNvPr id="22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B37C4C-76AF-4745-A42F-D11D686D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AB7602-F10C-480E-A96C-3A8AD2C7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‫מה מותר לטעון?‬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5F55F6-3583-41B5-ADA7-7E03AA3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81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‫מאין הגיע המידע?‬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94024C-5759-4B9E-9D48-B763D102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81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‫סוג הרשומה‬</a:t>
            </a:r>
          </a:p>
        </p:txBody>
      </p:sp>
      <p:sp>
        <p:nvSpPr>
          <p:cNvPr id="8" name="provenance-0">
            <a:extLst xmlns:a="http://schemas.openxmlformats.org/drawingml/2006/main">
              <a:ext uri="{FF2B5EF4-FFF2-40B4-BE49-F238E27FC236}">
                <a16:creationId xmlns:a16="http://schemas.microsoft.com/office/drawing/2014/main" id="{23FC8BB3-B4FE-4104-9ED5-2C29653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DDEFF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725D4E-2AC2-4B6B-8F05-024997C5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‫יכול לתמוך בתצפית מקומית‬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CBE9A8-86C4-4F59-BE8A-2759C161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‫כתב או שליח של העיתון‬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D7DA099-A73A-4C2D-97C4-36534CDB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‫דיווח מקומי‬</a:t>
            </a:r>
          </a:p>
        </p:txBody>
      </p:sp>
      <p:sp>
        <p:nvSpPr>
          <p:cNvPr id="12" name="provenance-1">
            <a:extLst xmlns:a="http://schemas.openxmlformats.org/drawingml/2006/main">
              <a:ext uri="{FF2B5EF4-FFF2-40B4-BE49-F238E27FC236}">
                <a16:creationId xmlns:a16="http://schemas.microsoft.com/office/drawing/2014/main" id="{1BD9ACC0-E353-4C6C-91C8-C7C009F4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8D8"/>
          </a:solidFill>
          <a:ln xmlns:a="http://schemas.openxmlformats.org/drawingml/2006/main" w="9525">
            <a:solidFill>
              <a:srgbClr val="EEE8D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D3EC36-32DB-4ECA-81AA-B23C687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‫תומכת במה שהמוסד פרסם‬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C22365-7338-46AF-AE34-6CE3A65C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‫משטרה, ביטחון או ממשלה‬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CB7EDBD-11D5-4CDD-ABF4-CB1EBC61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195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‫הודעה רשמית‬</a:t>
            </a:r>
          </a:p>
        </p:txBody>
      </p:sp>
      <p:sp>
        <p:nvSpPr>
          <p:cNvPr id="16" name="provenance-2">
            <a:extLst xmlns:a="http://schemas.openxmlformats.org/drawingml/2006/main">
              <a:ext uri="{FF2B5EF4-FFF2-40B4-BE49-F238E27FC236}">
                <a16:creationId xmlns:a16="http://schemas.microsoft.com/office/drawing/2014/main" id="{63D5D05D-218E-4156-B4B7-A2AEAE5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F3E1D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8C5428C-DD0F-437C-9FD8-A17F0CF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‫מלמד על מעבר המידע, לא על עצמאותו‬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2439C37-4DD9-4B22-B73B-CF088BBE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76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‫סיכום עיתון עברי או מקור אחר‬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AD2A5CD-BA2A-4DAC-9C06-9CE5641A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768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‫דיווח תלוי‬</a:t>
            </a:r>
          </a:p>
        </p:txBody>
      </p:sp>
    </p:spTree>
    <p:extLst>
      <p:ext uri="{BB962C8B-B14F-4D97-AF65-F5344CB8AC3E}">
        <p14:creationId xmlns:p14="http://schemas.microsoft.com/office/powerpoint/2010/main" val="1440509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BBEEEE9D-9662-4533-BFC7-313170F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0F46AE-E3EC-43BB-B514-1E5D977F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‫דוגמה: דבוריה, 11 ביולי 1938‬</a:t>
            </a:r>
          </a:p>
        </p:txBody>
      </p:sp>
      <p:cxnSp>
        <p:nvCxnSpPr>
          <p:cNvPr id="18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594EA59-EB0E-45D0-8FF1-72DD7922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0" name="event-link"/>
          <p:cNvCxnSpPr/>
          <p:nvPr/>
        </p:nvCxnSpPr>
        <p:spPr>
          <a:xfrm xmlns:a="http://schemas.openxmlformats.org/drawingml/2006/main">
            <a:off x="1485900" y="3314700"/>
            <a:ext cx="9220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A84B"/>
            </a:solidFill>
            <a:prstDash val="solid"/>
          </a:ln>
        </p:spPr>
      </p:cxnSp>
      <p:sp>
        <p:nvSpPr>
          <p:cNvPr id="6" name="hebrew-frame">
            <a:extLst xmlns:a="http://schemas.openxmlformats.org/drawingml/2006/main">
              <a:ext uri="{FF2B5EF4-FFF2-40B4-BE49-F238E27FC236}">
                <a16:creationId xmlns:a16="http://schemas.microsoft.com/office/drawing/2014/main" id="{309A1249-7A7A-47A4-8039-1CFC5472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95450"/>
            <a:ext cx="45339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7" name="arabic-frame">
            <a:extLst xmlns:a="http://schemas.openxmlformats.org/drawingml/2006/main">
              <a:ext uri="{FF2B5EF4-FFF2-40B4-BE49-F238E27FC236}">
                <a16:creationId xmlns:a16="http://schemas.microsoft.com/office/drawing/2014/main" id="{0DED76B5-D20A-478F-B150-A763E15E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45339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0EF7EC-0DF1-4F18-9A77-52A6B4E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‫מסגרת עברית‬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D230A2-B6AA-4887-8439-37CDED6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695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‫וינגייט כמארגן שיטה‬</a:t>
            </a:r>
          </a:p>
          <a:p xmlns:a="http://schemas.openxmlformats.org/drawingml/2006/main">
            <a:pPr algn="r">
              <a:defRPr sz="18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‫כוח מעורב‬</a:t>
            </a:r>
          </a:p>
          <a:p xmlns:a="http://schemas.openxmlformats.org/drawingml/2006/main">
            <a:pPr algn="r">
              <a:defRPr sz="18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‫משמעת ותנועה בלילה‬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68C23D-E2C7-4A12-851D-B77A0964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69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‫מסגרת ערבית‬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0F0523-9D24-4AEC-9CF9-9274AB1A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695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‫נפגעים מקומיים‬</a:t>
            </a:r>
          </a:p>
          <a:p xmlns:a="http://schemas.openxmlformats.org/drawingml/2006/main">
            <a:pPr algn="r">
              <a:defRPr sz="18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‫כיתור הכפר‬</a:t>
            </a:r>
          </a:p>
          <a:p xmlns:a="http://schemas.openxmlformats.org/drawingml/2006/main">
            <a:pPr algn="r">
              <a:defRPr sz="18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‫חיפושים בבתים‬</a:t>
            </a:r>
          </a:p>
        </p:txBody>
      </p:sp>
      <p:sp>
        <p:nvSpPr>
          <p:cNvPr id="12" name="match-box">
            <a:extLst xmlns:a="http://schemas.openxmlformats.org/drawingml/2006/main">
              <a:ext uri="{FF2B5EF4-FFF2-40B4-BE49-F238E27FC236}">
                <a16:creationId xmlns:a16="http://schemas.microsoft.com/office/drawing/2014/main" id="{1D8D7821-5D52-4D21-A14D-47846E33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21717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34F024D-6592-4705-B08F-4FA61B06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194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6A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A6A20"/>
                </a:solidFill>
                <a:latin typeface="Arial"/>
                <a:ea typeface="Arial"/>
                <a:cs typeface="Arial"/>
              </a:rPr>
              <a:t>‫התאמה מאומתת‬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4C748AD-FB79-4C42-9719-6E4EE85A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‫תאריך + מקום‬</a:t>
            </a:r>
          </a:p>
          <a:p xmlns:a="http://schemas.openxmlformats.org/drawingml/2006/main">
            <a:pPr algn="ctr">
              <a:defRPr sz="1275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‫+ 5 פרטים משותפים‬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C55244-6272-4F56-8543-F9BFF022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29250"/>
            <a:ext cx="788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‫אותו אירוע. זווית תצפית ושרשרת מידע שונות.‬</a:t>
            </a:r>
          </a:p>
        </p:txBody>
      </p:sp>
    </p:spTree>
    <p:extLst>
      <p:ext uri="{BB962C8B-B14F-4D97-AF65-F5344CB8AC3E}">
        <p14:creationId xmlns:p14="http://schemas.microsoft.com/office/powerpoint/2010/main" val="879088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95B5484A-5697-404D-A728-7234ECB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73DB5C-9240-44CA-82A5-2D0E2E39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‫חלוקת העבודה: המכונה מציעה, החוקר מכריע‬</a:t>
            </a:r>
          </a:p>
        </p:txBody>
      </p:sp>
      <p:cxnSp>
        <p:nvCxnSpPr>
          <p:cNvPr id="27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B14963-751F-404B-92F2-51BD1C6C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29" name="connector-0"/>
          <p:cNvCxnSpPr/>
          <p:nvPr/>
        </p:nvCxnSpPr>
        <p:spPr>
          <a:xfrm xmlns:a="http://schemas.openxmlformats.org/drawingml/2006/main">
            <a:off x="9353550" y="32099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3B8"/>
            </a:solidFill>
            <a:prstDash val="solid"/>
          </a:ln>
        </p:spPr>
      </p:cxnSp>
      <p:cxnSp>
        <p:nvCxnSpPr>
          <p:cNvPr id="30" name="connector-1"/>
          <p:cNvCxnSpPr/>
          <p:nvPr/>
        </p:nvCxnSpPr>
        <p:spPr>
          <a:xfrm xmlns:a="http://schemas.openxmlformats.org/drawingml/2006/main">
            <a:off x="6991350" y="32099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3B8"/>
            </a:solidFill>
            <a:prstDash val="solid"/>
          </a:ln>
        </p:spPr>
      </p:cxnSp>
      <p:cxnSp>
        <p:nvCxnSpPr>
          <p:cNvPr id="31" name="connector-2"/>
          <p:cNvCxnSpPr/>
          <p:nvPr/>
        </p:nvCxnSpPr>
        <p:spPr>
          <a:xfrm xmlns:a="http://schemas.openxmlformats.org/drawingml/2006/main">
            <a:off x="4629150" y="32099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3B8"/>
            </a:solidFill>
            <a:prstDash val="solid"/>
          </a:ln>
        </p:spPr>
      </p:cxnSp>
      <p:cxnSp>
        <p:nvCxnSpPr>
          <p:cNvPr id="32" name="connector-3"/>
          <p:cNvCxnSpPr/>
          <p:nvPr/>
        </p:nvCxnSpPr>
        <p:spPr>
          <a:xfrm xmlns:a="http://schemas.openxmlformats.org/drawingml/2006/main">
            <a:off x="2266950" y="32099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3B8"/>
            </a:solidFill>
            <a:prstDash val="solid"/>
          </a:ln>
        </p:spPr>
      </p:cxnSp>
      <p:sp>
        <p:nvSpPr>
          <p:cNvPr id="9" name="gate-0">
            <a:extLst xmlns:a="http://schemas.openxmlformats.org/drawingml/2006/main">
              <a:ext uri="{FF2B5EF4-FFF2-40B4-BE49-F238E27FC236}">
                <a16:creationId xmlns:a16="http://schemas.microsoft.com/office/drawing/2014/main" id="{B608293F-CCB9-4123-9BA9-B02553DA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62200"/>
            <a:ext cx="1752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78151B3-805A-4256-9E11-140AE2B5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634D79-09F2-4678-B752-DDC893C4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2420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‫הרחבת כתיבים‬</a:t>
            </a:r>
          </a:p>
        </p:txBody>
      </p:sp>
      <p:sp>
        <p:nvSpPr>
          <p:cNvPr id="12" name="gate-1">
            <a:extLst xmlns:a="http://schemas.openxmlformats.org/drawingml/2006/main">
              <a:ext uri="{FF2B5EF4-FFF2-40B4-BE49-F238E27FC236}">
                <a16:creationId xmlns:a16="http://schemas.microsoft.com/office/drawing/2014/main" id="{DB1FB175-2458-4186-9A6D-99025A24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752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2088DC9-FC50-4B3C-968C-587AC52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4563AF-D8D5-4F6E-9B70-EEA6A887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‫מיון OCR‬</a:t>
            </a:r>
          </a:p>
        </p:txBody>
      </p:sp>
      <p:sp>
        <p:nvSpPr>
          <p:cNvPr id="15" name="gate-2">
            <a:extLst xmlns:a="http://schemas.openxmlformats.org/drawingml/2006/main">
              <a:ext uri="{FF2B5EF4-FFF2-40B4-BE49-F238E27FC236}">
                <a16:creationId xmlns:a16="http://schemas.microsoft.com/office/drawing/2014/main" id="{02C1EB3F-AA13-444D-AEF9-14B4A30A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1752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E7452C7-7E57-4419-8D13-A1FF77DE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71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1C625BC-E515-4A03-A9C2-B61803E6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2420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‫הצעת התאמה‬</a:t>
            </a:r>
          </a:p>
        </p:txBody>
      </p:sp>
      <p:sp>
        <p:nvSpPr>
          <p:cNvPr id="18" name="gate-3">
            <a:extLst xmlns:a="http://schemas.openxmlformats.org/drawingml/2006/main">
              <a:ext uri="{FF2B5EF4-FFF2-40B4-BE49-F238E27FC236}">
                <a16:creationId xmlns:a16="http://schemas.microsoft.com/office/drawing/2014/main" id="{9F694D4E-7207-44DA-8098-3DE9E58C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62200"/>
            <a:ext cx="1752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EF5B5A-3FBF-4930-BDDC-FF3F9B0B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‫חוקר‬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83264C0-57F5-4C15-8FB2-46EC0765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‫בדיקת סריקה‬</a:t>
            </a:r>
          </a:p>
        </p:txBody>
      </p:sp>
      <p:sp>
        <p:nvSpPr>
          <p:cNvPr id="21" name="gate-4">
            <a:extLst xmlns:a="http://schemas.openxmlformats.org/drawingml/2006/main">
              <a:ext uri="{FF2B5EF4-FFF2-40B4-BE49-F238E27FC236}">
                <a16:creationId xmlns:a16="http://schemas.microsoft.com/office/drawing/2014/main" id="{3785CD35-B861-45E1-AFA0-B6631CDC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17526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8BFC7CB-B2AB-4354-AF9C-8AC5B6F8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‫חוקר‬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50474D0-30E8-45BF-9B81-D254EBEA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40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‫טענה ודרגת ביטחון‬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0A75C2E-BDAA-4C81-8A79-AE5D4BB9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95850"/>
            <a:ext cx="9220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‫המודל אינו קובע זהות אירוע, אינו משלים טקסט חסר ואינו מסיק היעדר מחיפוש אפס.‬</a:t>
            </a:r>
          </a:p>
        </p:txBody>
      </p:sp>
    </p:spTree>
    <p:extLst>
      <p:ext uri="{BB962C8B-B14F-4D97-AF65-F5344CB8AC3E}">
        <p14:creationId xmlns:p14="http://schemas.microsoft.com/office/powerpoint/2010/main" val="16025907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7C208EE9-952A-4D23-8A8B-21FE81A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DDD2E-EA31-426D-8C26-12D155DE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‫היכן השיטה יושבת ביחס לגישות קיימות‬</a:t>
            </a:r>
          </a:p>
        </p:txBody>
      </p:sp>
      <p:cxnSp>
        <p:nvCxnSpPr>
          <p:cNvPr id="32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E04F68-4395-47FB-BF41-C5116B34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approach-0">
            <a:extLst xmlns:a="http://schemas.openxmlformats.org/drawingml/2006/main">
              <a:ext uri="{FF2B5EF4-FFF2-40B4-BE49-F238E27FC236}">
                <a16:creationId xmlns:a16="http://schemas.microsoft.com/office/drawing/2014/main" id="{962450D2-39D1-477F-B89C-1CBDA29D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5486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406E01-B8B4-4647-962A-A760ADA5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Collections as Data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11E1E1-3DB0-421A-B212-51206AC5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‫מקור, זכויות, היעדר ותיעוד‬</a:t>
            </a:r>
          </a:p>
        </p:txBody>
      </p:sp>
      <p:sp>
        <p:nvSpPr>
          <p:cNvPr id="8" name="approach-mark-0">
            <a:extLst xmlns:a="http://schemas.openxmlformats.org/drawingml/2006/main">
              <a:ext uri="{FF2B5EF4-FFF2-40B4-BE49-F238E27FC236}">
                <a16:creationId xmlns:a16="http://schemas.microsoft.com/office/drawing/2014/main" id="{A4610BD4-0392-45CC-B767-238CF1F0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9" name="approach-1">
            <a:extLst xmlns:a="http://schemas.openxmlformats.org/drawingml/2006/main">
              <a:ext uri="{FF2B5EF4-FFF2-40B4-BE49-F238E27FC236}">
                <a16:creationId xmlns:a16="http://schemas.microsoft.com/office/drawing/2014/main" id="{6CCFDBC3-76EF-40E9-BFFB-72D9E346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486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20886AB-1381-472E-B2E2-E255E756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Environmental Scan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A4A1673-E7FB-4354-AEBA-498E5160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‫הטיות וכיסוי של מאגר היסטורי‬</a:t>
            </a:r>
          </a:p>
        </p:txBody>
      </p:sp>
      <p:sp>
        <p:nvSpPr>
          <p:cNvPr id="12" name="approach-mark-1">
            <a:extLst xmlns:a="http://schemas.openxmlformats.org/drawingml/2006/main">
              <a:ext uri="{FF2B5EF4-FFF2-40B4-BE49-F238E27FC236}">
                <a16:creationId xmlns:a16="http://schemas.microsoft.com/office/drawing/2014/main" id="{A12378FB-7DD2-43C2-ABF7-FA7550F6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13" name="approach-2">
            <a:extLst xmlns:a="http://schemas.openxmlformats.org/drawingml/2006/main">
              <a:ext uri="{FF2B5EF4-FFF2-40B4-BE49-F238E27FC236}">
                <a16:creationId xmlns:a16="http://schemas.microsoft.com/office/drawing/2014/main" id="{8AD5D6AE-E16D-415B-8812-1CDE6088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5486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B1E6EC-6DD1-49AD-A5C1-816EBC65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Impresso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9C3AA97-C55E-443C-B75F-6AD1E482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‫עיתונות רב־לשונית ו־OCR‬</a:t>
            </a:r>
          </a:p>
        </p:txBody>
      </p:sp>
      <p:sp>
        <p:nvSpPr>
          <p:cNvPr id="16" name="approach-mark-2">
            <a:extLst xmlns:a="http://schemas.openxmlformats.org/drawingml/2006/main">
              <a:ext uri="{FF2B5EF4-FFF2-40B4-BE49-F238E27FC236}">
                <a16:creationId xmlns:a16="http://schemas.microsoft.com/office/drawing/2014/main" id="{D8066466-DE1C-4979-A686-33BB169E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17" name="approach-3">
            <a:extLst xmlns:a="http://schemas.openxmlformats.org/drawingml/2006/main">
              <a:ext uri="{FF2B5EF4-FFF2-40B4-BE49-F238E27FC236}">
                <a16:creationId xmlns:a16="http://schemas.microsoft.com/office/drawing/2014/main" id="{BD860B06-557F-4B80-B827-9EF786D6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5486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3114F0C-52A3-4972-831C-E5FBDD0D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19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17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Computational Grounded Theory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9C94D12-B338-4D88-A8DD-8998706D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‫גילוי, קריאה ואישור‬</a:t>
            </a:r>
          </a:p>
        </p:txBody>
      </p:sp>
      <p:sp>
        <p:nvSpPr>
          <p:cNvPr id="20" name="approach-mark-3">
            <a:extLst xmlns:a="http://schemas.openxmlformats.org/drawingml/2006/main">
              <a:ext uri="{FF2B5EF4-FFF2-40B4-BE49-F238E27FC236}">
                <a16:creationId xmlns:a16="http://schemas.microsoft.com/office/drawing/2014/main" id="{53E1F165-F25E-4C2A-B0E1-C64FC4A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1" name="approach-4">
            <a:extLst xmlns:a="http://schemas.openxmlformats.org/drawingml/2006/main">
              <a:ext uri="{FF2B5EF4-FFF2-40B4-BE49-F238E27FC236}">
                <a16:creationId xmlns:a16="http://schemas.microsoft.com/office/drawing/2014/main" id="{93CCDD19-82A0-48C7-8063-C142DF97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57700"/>
            <a:ext cx="5486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35F4163-EB20-43E0-82E8-15F9173B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86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LLM-assisted coding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1A49A16-CB5B-49E1-89B8-7187EFEF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244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‫קודבוק ואימות מול תקן אנושי‬</a:t>
            </a:r>
          </a:p>
        </p:txBody>
      </p:sp>
      <p:sp>
        <p:nvSpPr>
          <p:cNvPr id="24" name="approach-mark-4">
            <a:extLst xmlns:a="http://schemas.openxmlformats.org/drawingml/2006/main">
              <a:ext uri="{FF2B5EF4-FFF2-40B4-BE49-F238E27FC236}">
                <a16:creationId xmlns:a16="http://schemas.microsoft.com/office/drawing/2014/main" id="{D11C8457-6584-4082-949A-AC640A75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5" name="approach-5">
            <a:extLst xmlns:a="http://schemas.openxmlformats.org/drawingml/2006/main">
              <a:ext uri="{FF2B5EF4-FFF2-40B4-BE49-F238E27FC236}">
                <a16:creationId xmlns:a16="http://schemas.microsoft.com/office/drawing/2014/main" id="{AB13A97A-A322-4CDE-976D-EFD2538A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5486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3B8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77A1D29-56C4-4B71-B21C-20166D34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86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ASReview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E0A94C6-4791-4866-9F8A-137F68A8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‫מיון מועמדים וכלל עצירה‬</a:t>
            </a:r>
          </a:p>
        </p:txBody>
      </p:sp>
      <p:sp>
        <p:nvSpPr>
          <p:cNvPr id="28" name="approach-mark-5">
            <a:extLst xmlns:a="http://schemas.openxmlformats.org/drawingml/2006/main">
              <a:ext uri="{FF2B5EF4-FFF2-40B4-BE49-F238E27FC236}">
                <a16:creationId xmlns:a16="http://schemas.microsoft.com/office/drawing/2014/main" id="{8F2E7FF0-B875-4EDB-8896-BCF15BB9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905EFBD-D6B8-412F-B62B-C738E952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000750"/>
            <a:ext cx="880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‫התרומה היא אינטגרציה סביב אירוע שנוי במחלוקת, לא אלגוריתם חדש.‬</a:t>
            </a:r>
          </a:p>
        </p:txBody>
      </p:sp>
    </p:spTree>
    <p:extLst>
      <p:ext uri="{BB962C8B-B14F-4D97-AF65-F5344CB8AC3E}">
        <p14:creationId xmlns:p14="http://schemas.microsoft.com/office/powerpoint/2010/main" val="14399168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4B22F329-3491-4AF9-A27A-4B52D65E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FROM QUESTION TO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C911E7-10FA-4828-9D66-EAD690A5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"/>
            <a:ext cx="640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‫מה השיטה מאפשרת, ומה עדיין דורש בדיקה‬</a:t>
            </a:r>
          </a:p>
        </p:txBody>
      </p:sp>
      <p:cxnSp>
        <p:nvCxnSpPr>
          <p:cNvPr id="14" name="title-rule"/>
          <p:cNvCxnSpPr/>
          <p:nvPr/>
        </p:nvCxnSpPr>
        <p:spPr>
          <a:xfrm xmlns:a="http://schemas.openxmlformats.org/drawingml/2006/main">
            <a:off x="457200" y="11049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3B8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22CE75-BEE6-4DFF-9FB7-FF9E9E04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1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1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contribution">
            <a:extLst xmlns:a="http://schemas.openxmlformats.org/drawingml/2006/main">
              <a:ext uri="{FF2B5EF4-FFF2-40B4-BE49-F238E27FC236}">
                <a16:creationId xmlns:a16="http://schemas.microsoft.com/office/drawing/2014/main" id="{E7C68004-1436-4D91-9E3A-7498CDFB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52578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DDEFF0"/>
          </a:solidFill>
          <a:ln xmlns:a="http://schemas.openxmlformats.org/drawingml/2006/main" w="9525">
            <a:solidFill>
              <a:srgbClr val="177E89"/>
            </a:solidFill>
            <a:prstDash val="solid"/>
          </a:ln>
        </p:spPr>
      </p:sp>
      <p:sp>
        <p:nvSpPr>
          <p:cNvPr id="6" name="limits">
            <a:extLst xmlns:a="http://schemas.openxmlformats.org/drawingml/2006/main">
              <a:ext uri="{FF2B5EF4-FFF2-40B4-BE49-F238E27FC236}">
                <a16:creationId xmlns:a16="http://schemas.microsoft.com/office/drawing/2014/main" id="{0C23675A-61E1-479C-9D97-CC78530E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2578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3E1D8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557E40-02AB-46AB-BBBA-7829A485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‫תרומה אפשרית‬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777CA8-2F9A-4644-8352-EA0C44CD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4419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הרחבת שדה הראייה בין שפות‬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שקיפות בהחלטות איסוף‬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הפרדת מקור, דיווח ופרשנות‬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השוואה בלי למזג קולות‬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מסלול שחזור לחוקר אחר‬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21E087-6665-456C-AD94-109B07D4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B85C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5C38"/>
                </a:solidFill>
                <a:latin typeface="Arial"/>
                <a:ea typeface="Arial"/>
                <a:cs typeface="Arial"/>
              </a:rPr>
              <a:t>‫מגבלות הפיילוט‬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3452F4-0936-4F24-A048-87583A26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419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מאגר אחד ותקופה קצרה‬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OCR לא אחיד‬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תלות בהודעות רשמיות‬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אין עדיין מדד recall‬</a:t>
            </a:r>
          </a:p>
          <a:p xmlns:a="http://schemas.openxmlformats.org/drawingml/2006/main">
            <a:pPr algn="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‫• נדרשת השוואה בין חוקרים‬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AB2A661-C50D-47C2-89FB-7357AEF9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72150"/>
            <a:ext cx="925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‫הצעד הבא: מבחן חוזר בארכיון נוסף, עם benchmark ידני ושני חוקרים בלתי תלויים.‬</a:t>
            </a:r>
          </a:p>
        </p:txBody>
      </p:sp>
    </p:spTree>
    <p:extLst>
      <p:ext uri="{BB962C8B-B14F-4D97-AF65-F5344CB8AC3E}">
        <p14:creationId xmlns:p14="http://schemas.microsoft.com/office/powerpoint/2010/main" val="622990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D37D11-68F3-46D8-8C14-16D5ACD9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383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‫היעד אינו תשובה מהירה יותר.‬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56EC0FD-585C-4673-A793-F632E5B1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DEF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DEFF0"/>
                </a:solidFill>
                <a:latin typeface="Arial"/>
                <a:ea typeface="Arial"/>
                <a:cs typeface="Arial"/>
              </a:rPr>
              <a:t>‫היעד הוא טענה שאפשר לעקוב אחר הדרך שהובילה אליה.‬</a:t>
            </a:r>
          </a:p>
        </p:txBody>
      </p:sp>
      <p:cxnSp>
        <p:nvCxnSpPr>
          <p:cNvPr id="8" name="closing-rule"/>
          <p:cNvCxnSpPr/>
          <p:nvPr/>
        </p:nvCxnSpPr>
        <p:spPr>
          <a:xfrm xmlns:a="http://schemas.openxmlformats.org/drawingml/2006/main">
            <a:off x="4095750" y="417195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A84B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7FD6BB-745B-4DDB-BF49-BFC28D1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754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‫טענה תחומה ← הצלבה ← מקור ← חיפוש ← שאלה‬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CC01C3-7312-4AD4-8BA1-549F4769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769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C3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C3B8"/>
                </a:solidFill>
                <a:latin typeface="Arial"/>
                <a:ea typeface="Arial"/>
                <a:cs typeface="Arial"/>
              </a:rPr>
              <a:t>github.com/pedahzur/from-question-to-evidence</a:t>
            </a:r>
          </a:p>
        </p:txBody>
      </p:sp>
    </p:spTree>
    <p:extLst>
      <p:ext uri="{BB962C8B-B14F-4D97-AF65-F5344CB8AC3E}">
        <p14:creationId xmlns:p14="http://schemas.microsoft.com/office/powerpoint/2010/main" val="2065144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2026-07-31T04:45:58.3890000Z</dcterms:created>
  <dcterms:modified xsi:type="dcterms:W3CDTF">2026-07-31T04:45:58.3890000Z</dcterms:modified>
</coreProperties>
</file>